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工数削減率</c:v>
                </c:pt>
              </c:strCache>
            </c:strRef>
          </c:tx>
          <c:spPr>
            <a:solidFill>
              <a:srgbClr val="2F66D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要件整理</c:v>
                  </c:pt>
                  <c:pt idx="1">
                    <c:v>実装</c:v>
                  </c:pt>
                  <c:pt idx="2">
                    <c:v>レビュー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</c:v>
                </c:pt>
                <c:pt idx="1">
                  <c:v>30</c:v>
                </c:pt>
                <c:pt idx="2">
                  <c:v>22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Yu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DG_TITLE">
    <p:bg>
      <p:bgPr>
        <a:solidFill>
          <a:srgbClr val="19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sdg-test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320040"/>
            <a:ext cx="1325880" cy="40233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18120" y="39319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9D7E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SEMANTIC DECK GENERATOR / TEST</a:t>
            </a:r>
            <a:endParaRPr lang="en-US" sz="850" dirty="0"/>
          </a:p>
        </p:txBody>
      </p:sp>
      <p:sp>
        <p:nvSpPr>
          <p:cNvPr id="4" name="Text 1"/>
          <p:cNvSpPr/>
          <p:nvPr/>
        </p:nvSpPr>
        <p:spPr>
          <a:xfrm>
            <a:off x="594360" y="6510528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9C8D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CONFIDENTIAL / VERIFICATION ONLY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029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B9C8D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DG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sdg-test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28600"/>
            <a:ext cx="1005840" cy="30175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6327648"/>
            <a:ext cx="11137392" cy="0"/>
          </a:xfrm>
          <a:prstGeom prst="line">
            <a:avLst/>
          </a:prstGeom>
          <a:noFill/>
          <a:ln w="10160">
            <a:solidFill>
              <a:srgbClr val="D7DEE8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48640" y="6382512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9657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SDG V2 検証用サンプル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9372600" y="6382512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9657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CONFIDENTIAL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6364224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59657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029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B9C8D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9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874520"/>
            <a:ext cx="71323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生成AI導入戦略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テストデッキ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04672" y="3657600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D8E3F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Semantic Deck Generator V2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8E3F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Knowledge JSON化 / VisualPattern Capture 検証用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641080" y="1783080"/>
            <a:ext cx="2331720" cy="2331720"/>
          </a:xfrm>
          <a:prstGeom prst="rect">
            <a:avLst/>
          </a:prstGeom>
          <a:solidFill>
            <a:srgbClr val="2F66D0">
              <a:alpha val="94000"/>
            </a:srgbClr>
          </a:solidFill>
          <a:ln w="12700">
            <a:solidFill>
              <a:srgbClr val="2F66D0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88552" y="2331720"/>
            <a:ext cx="1645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</a:t>
            </a:r>
            <a:endParaRPr lang="en-US" sz="3100" dirty="0"/>
          </a:p>
          <a:p>
            <a:pPr algn="ctr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029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B9C8D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7665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F66D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RECOMMENDATION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85800" y="987552"/>
            <a:ext cx="10835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生成AIの導入効果は、3つの観点で明確に現れる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704088" y="1673352"/>
            <a:ext cx="10607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9657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同じ大きさの3カード・見出し・数値・説明を持つため、VisualPattern Captureの検証に適したスライドです。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85800" y="2331720"/>
            <a:ext cx="3429000" cy="3273552"/>
          </a:xfrm>
          <a:prstGeom prst="roundRect">
            <a:avLst>
              <a:gd name="adj" fmla="val 2235"/>
            </a:avLst>
          </a:prstGeom>
          <a:solidFill>
            <a:srgbClr val="F7F9FC"/>
          </a:solidFill>
          <a:ln w="13970">
            <a:solidFill>
              <a:srgbClr val="D7DE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2331720"/>
            <a:ext cx="64008" cy="3273552"/>
          </a:xfrm>
          <a:prstGeom prst="rect">
            <a:avLst/>
          </a:prstGeom>
          <a:solidFill>
            <a:srgbClr val="2F66D0"/>
          </a:solidFill>
          <a:ln w="12700">
            <a:solidFill>
              <a:srgbClr val="2F66D0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78408" y="2587752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66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78408" y="3044952"/>
            <a:ext cx="2862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7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開発スピード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78408" y="3657600"/>
            <a:ext cx="28620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F66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978408" y="4297680"/>
            <a:ext cx="2843784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78408" y="4544568"/>
            <a:ext cx="28437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9657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定型実装とレビュー準備の時間を短縮し、価値提供までのリードタイムを圧縮する。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370832" y="2331720"/>
            <a:ext cx="3429000" cy="3273552"/>
          </a:xfrm>
          <a:prstGeom prst="roundRect">
            <a:avLst>
              <a:gd name="adj" fmla="val 2235"/>
            </a:avLst>
          </a:prstGeom>
          <a:solidFill>
            <a:srgbClr val="F7F9FC"/>
          </a:solidFill>
          <a:ln w="13970">
            <a:solidFill>
              <a:srgbClr val="D7DE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70832" y="2331720"/>
            <a:ext cx="64008" cy="3273552"/>
          </a:xfrm>
          <a:prstGeom prst="rect">
            <a:avLst/>
          </a:prstGeom>
          <a:solidFill>
            <a:srgbClr val="2F66D0"/>
          </a:solidFill>
          <a:ln w="12700">
            <a:solidFill>
              <a:srgbClr val="2F66D0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2587752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66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63440" y="3044952"/>
            <a:ext cx="2862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7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品質の安定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663440" y="3657600"/>
            <a:ext cx="28620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F66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−25%</a:t>
            </a:r>
            <a:endParaRPr lang="en-US" sz="2600" dirty="0"/>
          </a:p>
        </p:txBody>
      </p:sp>
      <p:sp>
        <p:nvSpPr>
          <p:cNvPr id="17" name="Shape 15"/>
          <p:cNvSpPr/>
          <p:nvPr/>
        </p:nvSpPr>
        <p:spPr>
          <a:xfrm>
            <a:off x="4663440" y="4297680"/>
            <a:ext cx="2843784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63440" y="4544568"/>
            <a:ext cx="28437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9657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チェック観点を標準化し、見落としや属人的なレビュー差を減らす。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055864" y="2331720"/>
            <a:ext cx="3429000" cy="3273552"/>
          </a:xfrm>
          <a:prstGeom prst="roundRect">
            <a:avLst>
              <a:gd name="adj" fmla="val 2235"/>
            </a:avLst>
          </a:prstGeom>
          <a:solidFill>
            <a:srgbClr val="F7F9FC"/>
          </a:solidFill>
          <a:ln w="13970">
            <a:solidFill>
              <a:srgbClr val="D7DE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055864" y="2331720"/>
            <a:ext cx="64008" cy="3273552"/>
          </a:xfrm>
          <a:prstGeom prst="rect">
            <a:avLst/>
          </a:prstGeom>
          <a:solidFill>
            <a:srgbClr val="2F66D0"/>
          </a:solidFill>
          <a:ln w="12700">
            <a:solidFill>
              <a:srgbClr val="2F66D0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48472" y="2587752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66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348472" y="3044952"/>
            <a:ext cx="2862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7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知識の再利用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348472" y="3657600"/>
            <a:ext cx="28620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F66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2.4×</a:t>
            </a:r>
            <a:endParaRPr lang="en-US" sz="2600" dirty="0"/>
          </a:p>
        </p:txBody>
      </p:sp>
      <p:sp>
        <p:nvSpPr>
          <p:cNvPr id="24" name="Shape 22"/>
          <p:cNvSpPr/>
          <p:nvPr/>
        </p:nvSpPr>
        <p:spPr>
          <a:xfrm>
            <a:off x="8348472" y="4297680"/>
            <a:ext cx="2843784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48472" y="4544568"/>
            <a:ext cx="28437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9657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過去の設計・判断・資料表現を再利用し、組織知を次の成果物へつなげる。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04088" y="59893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879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出典: 社内PoC想定値（テストデータ）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6364224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59657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7665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F66D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COMPARISON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85800" y="987552"/>
            <a:ext cx="10835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全社一括導入より、対象業務を絞った段階導入が適している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704088" y="1673352"/>
            <a:ext cx="10607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9657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2案比較の構造を持つスライド。Knowledge化した際に比較文脈として参照しやすい内容にしています。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77240" y="2359152"/>
            <a:ext cx="5074920" cy="324612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267004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A案｜全社一括導入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599432" y="2633472"/>
            <a:ext cx="868680" cy="347472"/>
          </a:xfrm>
          <a:prstGeom prst="roundRect">
            <a:avLst/>
          </a:prstGeom>
          <a:solidFill>
            <a:srgbClr val="C98616"/>
          </a:solidFill>
          <a:ln w="12700">
            <a:solidFill>
              <a:srgbClr val="C98616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36008" y="2697480"/>
            <a:ext cx="795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高リスク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143000" y="3401568"/>
            <a:ext cx="164592" cy="164592"/>
          </a:xfrm>
          <a:prstGeom prst="ellipse">
            <a:avLst/>
          </a:prstGeom>
          <a:solidFill>
            <a:srgbClr val="2F66D0"/>
          </a:solidFill>
          <a:ln w="12700">
            <a:solidFill>
              <a:srgbClr val="2F66D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35608" y="3273552"/>
            <a:ext cx="3977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7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初期インパクトは大きい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1143000" y="4023360"/>
            <a:ext cx="164592" cy="164592"/>
          </a:xfrm>
          <a:prstGeom prst="ellipse">
            <a:avLst/>
          </a:prstGeom>
          <a:solidFill>
            <a:srgbClr val="2F66D0"/>
          </a:solidFill>
          <a:ln w="12700">
            <a:solidFill>
              <a:srgbClr val="2F66D0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35608" y="3895344"/>
            <a:ext cx="3977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7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教育・ガバナンス負荷が集中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1143000" y="4645152"/>
            <a:ext cx="164592" cy="164592"/>
          </a:xfrm>
          <a:prstGeom prst="ellipse">
            <a:avLst/>
          </a:prstGeom>
          <a:solidFill>
            <a:srgbClr val="2F66D0"/>
          </a:solidFill>
          <a:ln w="12700">
            <a:solidFill>
              <a:srgbClr val="2F66D0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435608" y="4517136"/>
            <a:ext cx="3977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7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成果検証前に投資が先行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63640" y="2359152"/>
            <a:ext cx="5074920" cy="324612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0" y="267004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B案｜段階導入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10085832" y="2633472"/>
            <a:ext cx="868680" cy="347472"/>
          </a:xfrm>
          <a:prstGeom prst="roundRect">
            <a:avLst/>
          </a:prstGeom>
          <a:solidFill>
            <a:srgbClr val="2E8B57"/>
          </a:solidFill>
          <a:ln w="12700">
            <a:solidFill>
              <a:srgbClr val="2E8B57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122408" y="2697480"/>
            <a:ext cx="795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推奨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629400" y="3401568"/>
            <a:ext cx="164592" cy="164592"/>
          </a:xfrm>
          <a:prstGeom prst="ellipse">
            <a:avLst/>
          </a:prstGeom>
          <a:solidFill>
            <a:srgbClr val="2F66D0"/>
          </a:solidFill>
          <a:ln w="12700">
            <a:solidFill>
              <a:srgbClr val="2F66D0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22008" y="3273552"/>
            <a:ext cx="3977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7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効果が出やすい業務から開始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629400" y="4023360"/>
            <a:ext cx="164592" cy="164592"/>
          </a:xfrm>
          <a:prstGeom prst="ellipse">
            <a:avLst/>
          </a:prstGeom>
          <a:solidFill>
            <a:srgbClr val="2F66D0"/>
          </a:solidFill>
          <a:ln w="12700">
            <a:solidFill>
              <a:srgbClr val="2F66D0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22008" y="3895344"/>
            <a:ext cx="3977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7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検証結果を次部署へ展開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629400" y="4645152"/>
            <a:ext cx="164592" cy="164592"/>
          </a:xfrm>
          <a:prstGeom prst="ellipse">
            <a:avLst/>
          </a:prstGeom>
          <a:solidFill>
            <a:srgbClr val="2F66D0"/>
          </a:solidFill>
          <a:ln w="12700">
            <a:solidFill>
              <a:srgbClr val="2F66D0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22008" y="4517136"/>
            <a:ext cx="3977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7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ルールを段階的に成熟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6364224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59657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7665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F66D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PROCESS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85800" y="987552"/>
            <a:ext cx="10835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PoCから標準化までを4段階で進める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704088" y="1673352"/>
            <a:ext cx="10607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9657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同じ構造が横方向に反復する別パターン。Pattern Captureの限界比較にも利用できます。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85800" y="2743200"/>
            <a:ext cx="2331720" cy="205740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1832" y="2971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66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41832" y="347472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対象選定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41832" y="4041648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9657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効果が測りやすい業務を選ぶ</a:t>
            </a:r>
            <a:endParaRPr lang="en-US" sz="1020" dirty="0"/>
          </a:p>
        </p:txBody>
      </p:sp>
      <p:sp>
        <p:nvSpPr>
          <p:cNvPr id="9" name="Shape 7"/>
          <p:cNvSpPr/>
          <p:nvPr/>
        </p:nvSpPr>
        <p:spPr>
          <a:xfrm>
            <a:off x="3081528" y="3593592"/>
            <a:ext cx="310896" cy="438912"/>
          </a:xfrm>
          <a:prstGeom prst="chevron">
            <a:avLst/>
          </a:prstGeom>
          <a:solidFill>
            <a:srgbClr val="A9B6C6"/>
          </a:solidFill>
          <a:ln w="12700">
            <a:solidFill>
              <a:srgbClr val="A9B6C6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74720" y="2743200"/>
            <a:ext cx="2331720" cy="205740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30752" y="2971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66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730752" y="347472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PoC実施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730752" y="4041648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9657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利用者とKPIを限定して検証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5870448" y="3593592"/>
            <a:ext cx="310896" cy="438912"/>
          </a:xfrm>
          <a:prstGeom prst="chevron">
            <a:avLst/>
          </a:prstGeom>
          <a:solidFill>
            <a:srgbClr val="A9B6C6"/>
          </a:solidFill>
          <a:ln w="12700">
            <a:solidFill>
              <a:srgbClr val="A9B6C6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63640" y="2743200"/>
            <a:ext cx="2331720" cy="205740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19672" y="2971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66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519672" y="347472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ルール化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519672" y="4041648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9657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成功条件と禁止事項を整理</a:t>
            </a:r>
            <a:endParaRPr lang="en-US" sz="1020" dirty="0"/>
          </a:p>
        </p:txBody>
      </p:sp>
      <p:sp>
        <p:nvSpPr>
          <p:cNvPr id="19" name="Shape 17"/>
          <p:cNvSpPr/>
          <p:nvPr/>
        </p:nvSpPr>
        <p:spPr>
          <a:xfrm>
            <a:off x="8659368" y="3593592"/>
            <a:ext cx="310896" cy="438912"/>
          </a:xfrm>
          <a:prstGeom prst="chevron">
            <a:avLst/>
          </a:prstGeom>
          <a:solidFill>
            <a:srgbClr val="A9B6C6"/>
          </a:solidFill>
          <a:ln w="12700">
            <a:solidFill>
              <a:srgbClr val="A9B6C6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052560" y="2743200"/>
            <a:ext cx="2331720" cy="2057400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2F66D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08592" y="2971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66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308592" y="347472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横展開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9308592" y="4041648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9657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テンプレートと知識を再利用</a:t>
            </a:r>
            <a:endParaRPr lang="en-US" sz="10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6364224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59657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7665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F66D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NEGATIVE TEST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85800" y="987552"/>
            <a:ext cx="10835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グラフを含むスライドでは「非対応」が明示されることを確認する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704088" y="1673352"/>
            <a:ext cx="10607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9657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VisualPattern Captureがsilent failureせず、unsupportedFeaturesを返すかを見るための負荷テストです。</a:t>
            </a:r>
            <a:endParaRPr lang="en-US" sz="11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868680" y="2423160"/>
          <a:ext cx="612648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315200" y="2560320"/>
            <a:ext cx="3840480" cy="2331720"/>
          </a:xfrm>
          <a:prstGeom prst="roundRect">
            <a:avLst/>
          </a:prstGeom>
          <a:solidFill>
            <a:srgbClr val="FFF7E8"/>
          </a:solidFill>
          <a:ln w="12700">
            <a:solidFill>
              <a:srgbClr val="EDD19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635240" y="288036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期待する確認結果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635240" y="347472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7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Knowledge ingest はテキストを取り込める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7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Pattern Capture はグラフを非対応として報告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7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• 処理自体は黙って欠落させない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6364224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59657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Yu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Yu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Semantic Deck Generator Test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生成AI導入戦略テストデッキ</dc:title>
  <dc:subject>Semantic Deck Generator V2 import/capture verification</dc:subject>
  <dc:creator>OpenAI</dc:creator>
  <cp:lastModifiedBy>OpenAI</cp:lastModifiedBy>
  <cp:revision>1</cp:revision>
  <dcterms:created xsi:type="dcterms:W3CDTF">2026-08-20T03:37:42Z</dcterms:created>
  <dcterms:modified xsi:type="dcterms:W3CDTF">2026-08-20T03:37:42Z</dcterms:modified>
</cp:coreProperties>
</file>